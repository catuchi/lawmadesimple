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4550" y="1131987"/>
            <a:ext cx="634901" cy="634901"/>
          </a:xfrm>
          <a:prstGeom prst="roundRect">
            <a:avLst>
              <a:gd name="adj" fmla="val 50008"/>
            </a:avLst>
          </a:prstGeom>
          <a:solidFill>
            <a:srgbClr val="F4B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87168" y="1273225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123999" y="1970038"/>
            <a:ext cx="489585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LawMadeSimple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06726" y="2760613"/>
            <a:ext cx="55305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B3D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Democratizing Nigerian Law Through Plain Language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64771" y="3687663"/>
            <a:ext cx="2814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80C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Presentation | January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F4B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20592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2455366" cy="1590377"/>
          </a:xfrm>
          <a:prstGeom prst="roundRect">
            <a:avLst>
              <a:gd name="adj" fmla="val 6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015901"/>
            <a:ext cx="0" cy="1590377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269802"/>
            <a:ext cx="193793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9476" y="1838027"/>
            <a:ext cx="19379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Nigerians lack access to understandable legal information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44317" y="1015901"/>
            <a:ext cx="2455366" cy="1590377"/>
          </a:xfrm>
          <a:prstGeom prst="roundRect">
            <a:avLst>
              <a:gd name="adj" fmla="val 6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68129" y="1015901"/>
            <a:ext cx="0" cy="1590377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5843" y="1269802"/>
            <a:ext cx="193793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45843" y="1838027"/>
            <a:ext cx="1937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afford legal consultation fees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0683" y="1015901"/>
            <a:ext cx="2455366" cy="1590377"/>
          </a:xfrm>
          <a:prstGeom prst="roundRect">
            <a:avLst>
              <a:gd name="adj" fmla="val 6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04496" y="1015901"/>
            <a:ext cx="0" cy="1590377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2209" y="1269802"/>
            <a:ext cx="193793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82209" y="1838027"/>
            <a:ext cx="1937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legal documents too complex to understand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950" y="2987278"/>
            <a:ext cx="8128099" cy="1463278"/>
          </a:xfrm>
          <a:prstGeom prst="roundRect">
            <a:avLst>
              <a:gd name="adj" fmla="val 6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763" y="2987278"/>
            <a:ext cx="0" cy="14632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0375" y="3292078"/>
            <a:ext cx="7620292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Nigerian laws are written in complex legal language that ordinary citizens cannot understand. This leaves them vulnerable to exploitation by landlords, employers, and even law enforcement - unable to exercise rights they don't know they have.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2660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888950"/>
            <a:ext cx="3911650" cy="1164729"/>
          </a:xfrm>
          <a:prstGeom prst="roundRect">
            <a:avLst>
              <a:gd name="adj" fmla="val 8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51" y="1066651"/>
            <a:ext cx="36273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Digital Access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651" y="1342876"/>
            <a:ext cx="3627373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has over 100 million internet users, with smartphone penetration growing rapidly. Citizens are increasingly seeking information online.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180630"/>
            <a:ext cx="3911650" cy="1164729"/>
          </a:xfrm>
          <a:prstGeom prst="roundRect">
            <a:avLst>
              <a:gd name="adj" fmla="val 8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2358330"/>
            <a:ext cx="36273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Current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651" y="2634555"/>
            <a:ext cx="3627373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platforms provide raw legal text without explanation. There is no accessible tool that translates law into plain language for ordinary Nigerians.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3472309"/>
            <a:ext cx="3911650" cy="987028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3650010"/>
            <a:ext cx="36273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Makes It Possible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651" y="3926235"/>
            <a:ext cx="362737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AI can now explain complex legal concepts in simple terms, with practical examples - at scale and at minimal cost.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24400" y="888950"/>
            <a:ext cx="3911650" cy="1784152"/>
          </a:xfrm>
          <a:prstGeom prst="roundRect">
            <a:avLst>
              <a:gd name="adj" fmla="val 5695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44262" y="1142851"/>
            <a:ext cx="3471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 Size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44262" y="1466701"/>
            <a:ext cx="3471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200M+ Users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44262" y="1923901"/>
            <a:ext cx="3471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Nigerians + SMEs who need legal understanding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23402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Serve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943100" cy="381000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76313"/>
            <a:ext cx="1943100" cy="0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4150" y="1203275"/>
            <a:ext cx="507950" cy="507950"/>
          </a:xfrm>
          <a:prstGeom prst="roundRect">
            <a:avLst>
              <a:gd name="adj" fmla="val 50005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1323826"/>
            <a:ext cx="1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4150" y="1838176"/>
            <a:ext cx="15675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Adaeze, 28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4150" y="2079427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TENANT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4150" y="2349252"/>
            <a:ext cx="156753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Executive in Lagos facing eviction threats from her landlord. University graduate but feels powerless against complex tenancy laws.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4150" y="3436144"/>
            <a:ext cx="1567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Clear explanation of tenancy rights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7250" y="952500"/>
            <a:ext cx="1943249" cy="3810000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27250" y="976313"/>
            <a:ext cx="1943249" cy="0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0401" y="1203275"/>
            <a:ext cx="507950" cy="507950"/>
          </a:xfrm>
          <a:prstGeom prst="roundRect">
            <a:avLst>
              <a:gd name="adj" fmla="val 50005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01702" y="1323826"/>
            <a:ext cx="168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30401" y="1838176"/>
            <a:ext cx="15676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Chukwuemeka, 35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30401" y="2269927"/>
            <a:ext cx="15676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SME OWNER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30401" y="2539752"/>
            <a:ext cx="1567687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a logistics business in Port Harcourt. Overwhelmed by CAMA requirements and fears making costly mistakes with CAC registration.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30401" y="3466654"/>
            <a:ext cx="1567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Step-by-step business registration guide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650" y="952500"/>
            <a:ext cx="1943100" cy="381000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73650" y="976313"/>
            <a:ext cx="1943100" cy="0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6800" y="1203275"/>
            <a:ext cx="507950" cy="507950"/>
          </a:xfrm>
          <a:prstGeom prst="roundRect">
            <a:avLst>
              <a:gd name="adj" fmla="val 50005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60900" y="1323826"/>
            <a:ext cx="1425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76800" y="1838176"/>
            <a:ext cx="15675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Tunde, 42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6800" y="2079427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EMPLOYEE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76800" y="2349252"/>
            <a:ext cx="156753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supervisor in Kano suddenly terminated. Employer claims it was legal but Tunde suspects wrongful dismissal. Cannot afford a lawyer.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76800" y="3436144"/>
            <a:ext cx="1567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Labour Act explained simply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19900" y="952500"/>
            <a:ext cx="1943100" cy="381000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819900" y="976313"/>
            <a:ext cx="1943100" cy="0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3050" y="1203275"/>
            <a:ext cx="507950" cy="507950"/>
          </a:xfrm>
          <a:prstGeom prst="roundRect">
            <a:avLst>
              <a:gd name="adj" fmla="val 50005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194352" y="1323826"/>
            <a:ext cx="168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23050" y="1838176"/>
            <a:ext cx="15675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Ngozi, 22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23050" y="2079427"/>
            <a:ext cx="156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CITIZEN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23050" y="2349252"/>
            <a:ext cx="1567535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student in Enugu. Friends have been arrested arbitrarily by police. Wants to know her constitutional rights during encounters.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23050" y="3276154"/>
            <a:ext cx="1567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Know your rights guide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20683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888950"/>
            <a:ext cx="4267200" cy="2657177"/>
          </a:xfrm>
          <a:prstGeom prst="roundRect">
            <a:avLst>
              <a:gd name="adj" fmla="val 57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888950"/>
            <a:ext cx="0" cy="2657177"/>
          </a:xfrm>
          <a:prstGeom prst="line">
            <a:avLst/>
          </a:prstGeom>
          <a:noFill/>
          <a:ln w="76200">
            <a:solidFill>
              <a:srgbClr val="1A5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142851"/>
            <a:ext cx="375686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LawMadeSimple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051" y="1552426"/>
            <a:ext cx="375686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platform that translates Nigerian law from complex legal jargon into plain, easy-to-understand language with practical examples relevant to everyday situations.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8051" y="2308027"/>
            <a:ext cx="375686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discover relevant laws through real-life scenarios ("My landlord wants to evict me") rather than searching legal terminology they don't know.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8051" y="3063627"/>
            <a:ext cx="3756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law access - law comprehension.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950" y="888950"/>
            <a:ext cx="3556099" cy="853678"/>
          </a:xfrm>
          <a:prstGeom prst="roundRect">
            <a:avLst>
              <a:gd name="adj" fmla="val 119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32350" y="1041350"/>
            <a:ext cx="331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EXPLANATIONS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32350" y="1260425"/>
            <a:ext cx="3316325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AI translates legal text into simple language anyone can understand, with relevant examples.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950" y="1895029"/>
            <a:ext cx="3556099" cy="853678"/>
          </a:xfrm>
          <a:prstGeom prst="roundRect">
            <a:avLst>
              <a:gd name="adj" fmla="val 119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32350" y="2047429"/>
            <a:ext cx="331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SCENARIO-BASED DISCOVERY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32350" y="2266504"/>
            <a:ext cx="3316325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relevant laws through life situations, not legal jargon you need to already know.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950" y="2901107"/>
            <a:ext cx="3556099" cy="853678"/>
          </a:xfrm>
          <a:prstGeom prst="roundRect">
            <a:avLst>
              <a:gd name="adj" fmla="val 119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32350" y="3053507"/>
            <a:ext cx="3316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PWA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2350" y="3272582"/>
            <a:ext cx="3316325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any smartphone, even with limited connectivity - reaching Nigerians where they are.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20898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2971651" cy="1436043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990600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1690" y="106352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3400" y="1447651"/>
            <a:ext cx="2720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Laws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3400" y="1676251"/>
            <a:ext cx="272018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6 core Nigerian laws covering Constitution, Criminal Code, CAMA, Labour Act, Tenancy, and Tax basics.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9602" y="838200"/>
            <a:ext cx="2971651" cy="1436043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32002" y="990600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60291" y="106352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2002" y="1447651"/>
            <a:ext cx="2720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Explanations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2002" y="1676251"/>
            <a:ext cx="272018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plain-language explanations of any legal section with practical examples and clear guidance.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401193"/>
            <a:ext cx="2971651" cy="1287512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3400" y="2553593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1690" y="262651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3400" y="3010644"/>
            <a:ext cx="2720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Discovery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3400" y="3239244"/>
            <a:ext cx="272018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relevant laws through real-life situations like "My employer fired me without notice."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9602" y="2401193"/>
            <a:ext cx="2971651" cy="1287512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32002" y="2553593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60291" y="262651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2002" y="3010644"/>
            <a:ext cx="2720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32002" y="3239244"/>
            <a:ext cx="272018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across all laws, sections, and scenarios with intelligent suggestions and filtering.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3815655"/>
            <a:ext cx="2971651" cy="1287512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3400" y="3968055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1690" y="4040981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3400" y="4425107"/>
            <a:ext cx="2720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Bookmarks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400" y="4653707"/>
            <a:ext cx="272018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to save important sections and explanations for quick future reference.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9602" y="3815655"/>
            <a:ext cx="2971651" cy="1287512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32002" y="3968055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60291" y="4040981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2002" y="4425107"/>
            <a:ext cx="2720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Optimized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32002" y="4653707"/>
            <a:ext cx="272018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functionality on smartphones with PWA support for offline access to saved content.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2158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Adaeze finds her tenancy rights: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55552"/>
            <a:ext cx="1251198" cy="1562993"/>
          </a:xfrm>
          <a:prstGeom prst="roundRect">
            <a:avLst>
              <a:gd name="adj" fmla="val 81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5774" y="1758702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3074" y="183162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2652" y="2241203"/>
            <a:ext cx="8617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Site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2652" y="2469803"/>
            <a:ext cx="861795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LawMadeSimple on her phone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11548" y="2189411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96864" y="1479352"/>
            <a:ext cx="1176040" cy="1715393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07035" y="1682502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34335" y="175542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2317" y="2165003"/>
            <a:ext cx="7851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Scenario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92317" y="2546003"/>
            <a:ext cx="785134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Taps "My landlord wants to evict me"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25304" y="2189411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10620" y="1479352"/>
            <a:ext cx="1176189" cy="1715393"/>
          </a:xfrm>
          <a:prstGeom prst="roundRect">
            <a:avLst>
              <a:gd name="adj" fmla="val 8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20939" y="1682502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48240" y="175542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072" y="2165003"/>
            <a:ext cx="7852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Sections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072" y="2546003"/>
            <a:ext cx="78528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relevant tenancy law sections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39209" y="2189411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24525" y="1553617"/>
            <a:ext cx="1197769" cy="1566863"/>
          </a:xfrm>
          <a:prstGeom prst="roundRect">
            <a:avLst>
              <a:gd name="adj" fmla="val 84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45560" y="1756767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72860" y="182969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19761" y="2239268"/>
            <a:ext cx="8072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Explanation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19761" y="2620268"/>
            <a:ext cx="80729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explains in plain language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74694" y="2189411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60010" y="1479352"/>
            <a:ext cx="1176040" cy="1715393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70180" y="1682502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997480" y="175542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55463" y="2165003"/>
            <a:ext cx="7851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55463" y="2546003"/>
            <a:ext cx="785134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and shares with landlord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950" y="3448645"/>
            <a:ext cx="8128099" cy="945952"/>
          </a:xfrm>
          <a:prstGeom prst="roundRect">
            <a:avLst>
              <a:gd name="adj" fmla="val 10741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1101" y="3651796"/>
            <a:ext cx="7876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1101" y="3905696"/>
            <a:ext cx="78762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"Within 2 minutes, Adaeze learns her landlord must give 6 months notice for a yearly tenancy. She screenshots the explanation and feels empowered to stand her ground."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19816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Screens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888950"/>
            <a:ext cx="1727002" cy="2996952"/>
          </a:xfrm>
          <a:prstGeom prst="roundRect">
            <a:avLst>
              <a:gd name="adj" fmla="val 11766"/>
            </a:avLst>
          </a:prstGeom>
          <a:solidFill>
            <a:srgbClr val="1A5F7A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2501" y="990451"/>
            <a:ext cx="1524000" cy="279395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990451"/>
            <a:ext cx="1524000" cy="317302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0792" y="1091952"/>
            <a:ext cx="13474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LawMadeSimple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4002" y="1409254"/>
            <a:ext cx="1320998" cy="323850"/>
          </a:xfrm>
          <a:prstGeom prst="roundRect">
            <a:avLst>
              <a:gd name="adj" fmla="val 470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0281" y="1485454"/>
            <a:ext cx="1088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legal situation are you dealing with?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002" y="1834604"/>
            <a:ext cx="1320998" cy="219075"/>
          </a:xfrm>
          <a:prstGeom prst="roundRect">
            <a:avLst>
              <a:gd name="adj" fmla="val 2318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516" y="1910804"/>
            <a:ext cx="11919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Landlord Issues</a:t>
            </a:r>
            <a:endParaRPr lang="en-US" sz="500" dirty="0"/>
          </a:p>
        </p:txBody>
      </p:sp>
      <p:sp>
        <p:nvSpPr>
          <p:cNvPr id="12" name="Text 10"/>
          <p:cNvSpPr/>
          <p:nvPr/>
        </p:nvSpPr>
        <p:spPr>
          <a:xfrm>
            <a:off x="584002" y="2129879"/>
            <a:ext cx="1320998" cy="219075"/>
          </a:xfrm>
          <a:prstGeom prst="roundRect">
            <a:avLst>
              <a:gd name="adj" fmla="val 2318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8516" y="2206079"/>
            <a:ext cx="11919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Encounters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584002" y="2425154"/>
            <a:ext cx="1320998" cy="219075"/>
          </a:xfrm>
          <a:prstGeom prst="roundRect">
            <a:avLst>
              <a:gd name="adj" fmla="val 2318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8516" y="2501354"/>
            <a:ext cx="11919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Rights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584002" y="2720429"/>
            <a:ext cx="1320998" cy="219075"/>
          </a:xfrm>
          <a:prstGeom prst="roundRect">
            <a:avLst>
              <a:gd name="adj" fmla="val 2318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8516" y="2796629"/>
            <a:ext cx="11919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a Business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363730" y="4038302"/>
            <a:ext cx="1761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11152" y="888950"/>
            <a:ext cx="1727002" cy="2996952"/>
          </a:xfrm>
          <a:prstGeom prst="roundRect">
            <a:avLst>
              <a:gd name="adj" fmla="val 11766"/>
            </a:avLst>
          </a:prstGeom>
          <a:solidFill>
            <a:srgbClr val="1A5F7A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12653" y="990451"/>
            <a:ext cx="1524000" cy="279395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12653" y="990451"/>
            <a:ext cx="1524000" cy="317302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00944" y="1091952"/>
            <a:ext cx="13474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Landlord Issues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14154" y="1409254"/>
            <a:ext cx="1320998" cy="438001"/>
          </a:xfrm>
          <a:prstGeom prst="roundRect">
            <a:avLst>
              <a:gd name="adj" fmla="val 115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02607" y="1545878"/>
            <a:ext cx="344091" cy="107752"/>
          </a:xfrm>
          <a:prstGeom prst="roundRect">
            <a:avLst>
              <a:gd name="adj" fmla="val 23573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50932" y="1571179"/>
            <a:ext cx="24744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TENANCY</a:t>
            </a:r>
            <a:endParaRPr lang="en-US" sz="400" dirty="0"/>
          </a:p>
        </p:txBody>
      </p:sp>
      <p:sp>
        <p:nvSpPr>
          <p:cNvPr id="26" name="Text 24"/>
          <p:cNvSpPr/>
          <p:nvPr/>
        </p:nvSpPr>
        <p:spPr>
          <a:xfrm>
            <a:off x="2578668" y="1704380"/>
            <a:ext cx="11919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Increase Rights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2514154" y="1923455"/>
            <a:ext cx="1320998" cy="438001"/>
          </a:xfrm>
          <a:prstGeom prst="roundRect">
            <a:avLst>
              <a:gd name="adj" fmla="val 115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002607" y="2060079"/>
            <a:ext cx="344091" cy="107752"/>
          </a:xfrm>
          <a:prstGeom prst="roundRect">
            <a:avLst>
              <a:gd name="adj" fmla="val 23573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050932" y="2085380"/>
            <a:ext cx="24744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TENANCY</a:t>
            </a:r>
            <a:endParaRPr lang="en-US" sz="400" dirty="0"/>
          </a:p>
        </p:txBody>
      </p:sp>
      <p:sp>
        <p:nvSpPr>
          <p:cNvPr id="30" name="Text 28"/>
          <p:cNvSpPr/>
          <p:nvPr/>
        </p:nvSpPr>
        <p:spPr>
          <a:xfrm>
            <a:off x="2578668" y="2218581"/>
            <a:ext cx="11919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 Notice Period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2514154" y="2437656"/>
            <a:ext cx="1320998" cy="438001"/>
          </a:xfrm>
          <a:prstGeom prst="roundRect">
            <a:avLst>
              <a:gd name="adj" fmla="val 115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33402" y="2574280"/>
            <a:ext cx="482352" cy="107752"/>
          </a:xfrm>
          <a:prstGeom prst="roundRect">
            <a:avLst>
              <a:gd name="adj" fmla="val 23573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980344" y="2599581"/>
            <a:ext cx="38846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</a:t>
            </a:r>
            <a:endParaRPr lang="en-US" sz="400" dirty="0"/>
          </a:p>
        </p:txBody>
      </p:sp>
      <p:sp>
        <p:nvSpPr>
          <p:cNvPr id="34" name="Text 32"/>
          <p:cNvSpPr/>
          <p:nvPr/>
        </p:nvSpPr>
        <p:spPr>
          <a:xfrm>
            <a:off x="2578668" y="2732782"/>
            <a:ext cx="11919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 Housing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2293882" y="4038302"/>
            <a:ext cx="1761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Results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41304" y="888950"/>
            <a:ext cx="1727002" cy="2996952"/>
          </a:xfrm>
          <a:prstGeom prst="roundRect">
            <a:avLst>
              <a:gd name="adj" fmla="val 11766"/>
            </a:avLst>
          </a:prstGeom>
          <a:solidFill>
            <a:srgbClr val="1A5F7A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42805" y="990451"/>
            <a:ext cx="1524000" cy="279395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342805" y="990451"/>
            <a:ext cx="1524000" cy="317302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31095" y="1091952"/>
            <a:ext cx="13474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63554" y="1469678"/>
            <a:ext cx="482352" cy="107752"/>
          </a:xfrm>
          <a:prstGeom prst="roundRect">
            <a:avLst>
              <a:gd name="adj" fmla="val 23573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10496" y="1494979"/>
            <a:ext cx="38846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</a:t>
            </a:r>
            <a:endParaRPr lang="en-US" sz="400" dirty="0"/>
          </a:p>
        </p:txBody>
      </p:sp>
      <p:sp>
        <p:nvSpPr>
          <p:cNvPr id="42" name="Text 40"/>
          <p:cNvSpPr/>
          <p:nvPr/>
        </p:nvSpPr>
        <p:spPr>
          <a:xfrm>
            <a:off x="4431095" y="1678930"/>
            <a:ext cx="13474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 Personal Liberty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444305" y="1850380"/>
            <a:ext cx="1320998" cy="400199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453830" y="1850380"/>
            <a:ext cx="0" cy="400199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8060" y="1926580"/>
            <a:ext cx="1172539" cy="24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terms, this means no one can arrest you or lock you up without following proper legal procedures...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224034" y="4038302"/>
            <a:ext cx="1761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Explanation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1456" y="888950"/>
            <a:ext cx="1727002" cy="2996952"/>
          </a:xfrm>
          <a:prstGeom prst="roundRect">
            <a:avLst>
              <a:gd name="adj" fmla="val 11766"/>
            </a:avLst>
          </a:prstGeom>
          <a:solidFill>
            <a:srgbClr val="1A5F7A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72957" y="990451"/>
            <a:ext cx="1524000" cy="279395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272957" y="990451"/>
            <a:ext cx="1524000" cy="317302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361247" y="1091952"/>
            <a:ext cx="13474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Saved Items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74457" y="1409254"/>
            <a:ext cx="1320998" cy="495151"/>
          </a:xfrm>
          <a:prstGeom prst="roundRect">
            <a:avLst>
              <a:gd name="adj" fmla="val 102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862911" y="1545878"/>
            <a:ext cx="344091" cy="107752"/>
          </a:xfrm>
          <a:prstGeom prst="roundRect">
            <a:avLst>
              <a:gd name="adj" fmla="val 23573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11236" y="1571179"/>
            <a:ext cx="24744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TENANCY</a:t>
            </a:r>
            <a:endParaRPr lang="en-US" sz="400" dirty="0"/>
          </a:p>
        </p:txBody>
      </p:sp>
      <p:sp>
        <p:nvSpPr>
          <p:cNvPr id="54" name="Text 52"/>
          <p:cNvSpPr/>
          <p:nvPr/>
        </p:nvSpPr>
        <p:spPr>
          <a:xfrm>
            <a:off x="6438971" y="1704380"/>
            <a:ext cx="11919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 Notice Period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6438971" y="1771055"/>
            <a:ext cx="11919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Jan 15</a:t>
            </a:r>
            <a:endParaRPr lang="en-US" sz="400" dirty="0"/>
          </a:p>
        </p:txBody>
      </p:sp>
      <p:sp>
        <p:nvSpPr>
          <p:cNvPr id="56" name="Text 54"/>
          <p:cNvSpPr/>
          <p:nvPr/>
        </p:nvSpPr>
        <p:spPr>
          <a:xfrm>
            <a:off x="6374457" y="1980605"/>
            <a:ext cx="1320998" cy="495151"/>
          </a:xfrm>
          <a:prstGeom prst="roundRect">
            <a:avLst>
              <a:gd name="adj" fmla="val 102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879729" y="2117229"/>
            <a:ext cx="310307" cy="107752"/>
          </a:xfrm>
          <a:prstGeom prst="roundRect">
            <a:avLst>
              <a:gd name="adj" fmla="val 23573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928391" y="2142530"/>
            <a:ext cx="21298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</a:t>
            </a:r>
            <a:endParaRPr lang="en-US" sz="400" dirty="0"/>
          </a:p>
        </p:txBody>
      </p:sp>
      <p:sp>
        <p:nvSpPr>
          <p:cNvPr id="59" name="Text 57"/>
          <p:cNvSpPr/>
          <p:nvPr/>
        </p:nvSpPr>
        <p:spPr>
          <a:xfrm>
            <a:off x="6438971" y="2275731"/>
            <a:ext cx="11919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Wrongful Termination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6438971" y="2342406"/>
            <a:ext cx="11919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Jan 12</a:t>
            </a:r>
            <a:endParaRPr lang="en-US" sz="400" dirty="0"/>
          </a:p>
        </p:txBody>
      </p:sp>
      <p:sp>
        <p:nvSpPr>
          <p:cNvPr id="61" name="Text 59"/>
          <p:cNvSpPr/>
          <p:nvPr/>
        </p:nvSpPr>
        <p:spPr>
          <a:xfrm>
            <a:off x="6154186" y="4038302"/>
            <a:ext cx="1761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22353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863501"/>
            <a:ext cx="30622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 (Simplified)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276201"/>
            <a:ext cx="3002161" cy="3396258"/>
          </a:xfrm>
          <a:prstGeom prst="roundRect">
            <a:avLst>
              <a:gd name="adj" fmla="val 33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1530102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5442" y="162847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0552" y="1580852"/>
            <a:ext cx="19743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selects a scenario or searches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908" y="2037904"/>
            <a:ext cx="2544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D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1851" y="2323654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5442" y="242202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0552" y="2374404"/>
            <a:ext cx="19743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finds relevant law sections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908" y="2831455"/>
            <a:ext cx="2544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D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1851" y="3117205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15442" y="3215580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0552" y="3167955"/>
            <a:ext cx="19743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plain-language explanation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908" y="3625007"/>
            <a:ext cx="2544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D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1851" y="3910757"/>
            <a:ext cx="406301" cy="406301"/>
          </a:xfrm>
          <a:prstGeom prst="roundRect">
            <a:avLst>
              <a:gd name="adj" fmla="val 50012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15442" y="400913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0552" y="4037707"/>
            <a:ext cx="1974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reads, saves, or shares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14911" y="863501"/>
            <a:ext cx="30622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Choices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14911" y="1276201"/>
            <a:ext cx="3002161" cy="2173784"/>
          </a:xfrm>
          <a:prstGeom prst="roundRect">
            <a:avLst>
              <a:gd name="adj" fmla="val 46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18062" y="1829991"/>
            <a:ext cx="25958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18062" y="1580852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33963" y="1580852"/>
            <a:ext cx="9712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(PWA)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18062" y="2185392"/>
            <a:ext cx="25958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18062" y="1936254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33963" y="1936254"/>
            <a:ext cx="899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(React)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18062" y="2540794"/>
            <a:ext cx="25958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18062" y="2291655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33963" y="2291655"/>
            <a:ext cx="748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18062" y="2896195"/>
            <a:ext cx="25958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18062" y="2647057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33963" y="2647057"/>
            <a:ext cx="87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18062" y="3002459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33963" y="3002459"/>
            <a:ext cx="8709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(Cloud)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14911" y="3653135"/>
            <a:ext cx="3002161" cy="1107579"/>
          </a:xfrm>
          <a:prstGeom prst="roundRect">
            <a:avLst>
              <a:gd name="adj" fmla="val 9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018062" y="4206925"/>
            <a:ext cx="25958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18062" y="3957786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33963" y="3957786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NDPR Compliant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18062" y="4313188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33963" y="4313188"/>
            <a:ext cx="789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Target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36360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Timeline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9156" y="825401"/>
            <a:ext cx="722709" cy="266700"/>
          </a:xfrm>
          <a:prstGeom prst="roundRect">
            <a:avLst>
              <a:gd name="adj" fmla="val 19048"/>
            </a:avLst>
          </a:prstGeom>
          <a:solidFill>
            <a:srgbClr val="F4B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70657" y="863501"/>
            <a:ext cx="5301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7950" y="1015901"/>
            <a:ext cx="1445270" cy="396776"/>
          </a:xfrm>
          <a:prstGeom prst="roundRect">
            <a:avLst>
              <a:gd name="adj" fmla="val 19205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2987" y="1142851"/>
            <a:ext cx="1215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412677"/>
            <a:ext cx="1445270" cy="2209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1565077"/>
            <a:ext cx="1163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0350" y="1818977"/>
            <a:ext cx="1140470" cy="6802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setup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deployment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60350" y="2630984"/>
            <a:ext cx="114047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350" y="2762696"/>
            <a:ext cx="1163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live (minimal)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4721" y="1015901"/>
            <a:ext cx="1445419" cy="396776"/>
          </a:xfrm>
          <a:prstGeom prst="roundRect">
            <a:avLst>
              <a:gd name="adj" fmla="val 19205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69756" y="1142851"/>
            <a:ext cx="1215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3-4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4721" y="1412677"/>
            <a:ext cx="1445419" cy="2209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7121" y="1565077"/>
            <a:ext cx="11634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Backend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07121" y="1818977"/>
            <a:ext cx="1140619" cy="8123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database structure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functionality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07121" y="2762994"/>
            <a:ext cx="114061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07121" y="2894707"/>
            <a:ext cx="1163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working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01641" y="1015901"/>
            <a:ext cx="1445270" cy="396776"/>
          </a:xfrm>
          <a:prstGeom prst="roundRect">
            <a:avLst>
              <a:gd name="adj" fmla="val 19205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16677" y="1142851"/>
            <a:ext cx="1215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01641" y="1412677"/>
            <a:ext cx="1445270" cy="2209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54041" y="1565077"/>
            <a:ext cx="1163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54041" y="1818977"/>
            <a:ext cx="1140470" cy="6802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integration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responses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 caching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system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54041" y="2630984"/>
            <a:ext cx="114047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4041" y="2762696"/>
            <a:ext cx="1163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explanations live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48411" y="1015901"/>
            <a:ext cx="1445419" cy="396776"/>
          </a:xfrm>
          <a:prstGeom prst="roundRect">
            <a:avLst>
              <a:gd name="adj" fmla="val 19205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63447" y="1142851"/>
            <a:ext cx="1215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7-9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48411" y="1412677"/>
            <a:ext cx="1445419" cy="2209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0811" y="1565077"/>
            <a:ext cx="11634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0811" y="1818977"/>
            <a:ext cx="1140619" cy="6802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pages built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optimization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features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00811" y="2630984"/>
            <a:ext cx="1140619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0811" y="2762696"/>
            <a:ext cx="1163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app functional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5331" y="1015901"/>
            <a:ext cx="1445270" cy="396776"/>
          </a:xfrm>
          <a:prstGeom prst="roundRect">
            <a:avLst>
              <a:gd name="adj" fmla="val 19205"/>
            </a:avLst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10368" y="1142851"/>
            <a:ext cx="1215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10-12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95331" y="1412677"/>
            <a:ext cx="1445270" cy="2209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47731" y="1565077"/>
            <a:ext cx="1163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+ Launch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47731" y="1818977"/>
            <a:ext cx="1140470" cy="94431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seeding (6 laws)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scenarios mapped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+ security</a:t>
            </a:r>
            <a:endParaRPr lang="en-US" sz="800" dirty="0"/>
          </a:p>
          <a:p>
            <a:pPr algn="l" marL="88900" indent="-88900">
              <a:lnSpc>
                <a:spcPts val="104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47731" y="2895005"/>
            <a:ext cx="114047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7731" y="3026718"/>
            <a:ext cx="1163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LAUNCH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651950" cy="762000"/>
          </a:xfrm>
          <a:prstGeom prst="rect">
            <a:avLst/>
          </a:prstGeom>
          <a:solidFill>
            <a:srgbClr val="1A5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9550"/>
            <a:ext cx="2533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863501"/>
            <a:ext cx="40547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Targets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4401" y="1161901"/>
            <a:ext cx="3975199" cy="568226"/>
          </a:xfrm>
          <a:prstGeom prst="roundRect">
            <a:avLst>
              <a:gd name="adj" fmla="val 178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351" y="1288852"/>
            <a:ext cx="103621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87252" y="1295251"/>
            <a:ext cx="27595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87252" y="1463427"/>
            <a:ext cx="2759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Nigerians using the platform monthly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4401" y="1831628"/>
            <a:ext cx="3975199" cy="568226"/>
          </a:xfrm>
          <a:prstGeom prst="roundRect">
            <a:avLst>
              <a:gd name="adj" fmla="val 178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351" y="1958578"/>
            <a:ext cx="103621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87252" y="1964978"/>
            <a:ext cx="27595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87252" y="2133154"/>
            <a:ext cx="2759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with saved bookmarks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4401" y="2501354"/>
            <a:ext cx="3975199" cy="568226"/>
          </a:xfrm>
          <a:prstGeom prst="roundRect">
            <a:avLst>
              <a:gd name="adj" fmla="val 178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351" y="2628305"/>
            <a:ext cx="103621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87252" y="2634704"/>
            <a:ext cx="27595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 Rating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87252" y="2802880"/>
            <a:ext cx="2759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Explanations rated helpful by users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4401" y="3171081"/>
            <a:ext cx="3975199" cy="882551"/>
          </a:xfrm>
          <a:prstGeom prst="roundRect">
            <a:avLst>
              <a:gd name="adj" fmla="val 11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1351" y="3298031"/>
            <a:ext cx="103621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 min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87252" y="3461593"/>
            <a:ext cx="27595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Session Duration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87252" y="3629769"/>
            <a:ext cx="2759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users spend reading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24400" y="863501"/>
            <a:ext cx="40547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24400" y="1161901"/>
            <a:ext cx="3975199" cy="969466"/>
          </a:xfrm>
          <a:prstGeom prst="roundRect">
            <a:avLst>
              <a:gd name="adj" fmla="val 10480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6800" y="1314301"/>
            <a:ext cx="37438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Empowerment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6800" y="1533376"/>
            <a:ext cx="374380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Nigerians will understand their rights for the first time - tenants knowing eviction rules, employees understanding termination rights, citizens knowing police limits.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24400" y="2232868"/>
            <a:ext cx="3975199" cy="969466"/>
          </a:xfrm>
          <a:prstGeom prst="roundRect">
            <a:avLst>
              <a:gd name="adj" fmla="val 10480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76800" y="2385268"/>
            <a:ext cx="37438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Exploitation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6800" y="2604343"/>
            <a:ext cx="374380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reduces vulnerability. Users armed with legal understanding can push back against illegal actions by landlords, employers, and authorities.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24400" y="3303836"/>
            <a:ext cx="3975199" cy="969466"/>
          </a:xfrm>
          <a:prstGeom prst="roundRect">
            <a:avLst>
              <a:gd name="adj" fmla="val 10480"/>
            </a:avLst>
          </a:prstGeom>
          <a:solidFill>
            <a:srgbClr val="E6F3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76800" y="3456236"/>
            <a:ext cx="37438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Growth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76800" y="3675311"/>
            <a:ext cx="374380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 owners can navigate registration and compliance without expensive lawyers, lowering barriers to formal business operation.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4B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81000"/>
            <a:ext cx="382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984200"/>
            <a:ext cx="382153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000"/>
              </a:spcAft>
              <a:buNone/>
            </a:pPr>
            <a:r>
              <a:rPr lang="en-US" sz="1200" dirty="0">
                <a:solidFill>
                  <a:srgbClr val="B3D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ready to begin development. Here is what we need to move forward: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664643"/>
            <a:ext cx="3746599" cy="590401"/>
          </a:xfrm>
          <a:prstGeom prst="roundRect">
            <a:avLst>
              <a:gd name="adj" fmla="val 1290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1664643"/>
            <a:ext cx="0" cy="590401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476" y="1791593"/>
            <a:ext cx="3513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9476" y="1985218"/>
            <a:ext cx="3513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project scope and timeline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2356545"/>
            <a:ext cx="3746599" cy="590401"/>
          </a:xfrm>
          <a:prstGeom prst="roundRect">
            <a:avLst>
              <a:gd name="adj" fmla="val 1290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58713" y="2356545"/>
            <a:ext cx="0" cy="590401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476" y="2483495"/>
            <a:ext cx="3513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476" y="2677120"/>
            <a:ext cx="3513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design direction and branding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4901" y="3048446"/>
            <a:ext cx="3746599" cy="590401"/>
          </a:xfrm>
          <a:prstGeom prst="roundRect">
            <a:avLst>
              <a:gd name="adj" fmla="val 1290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58713" y="3048446"/>
            <a:ext cx="0" cy="590401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476" y="3175397"/>
            <a:ext cx="3513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476" y="3369022"/>
            <a:ext cx="3513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sources for official law text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4901" y="3740348"/>
            <a:ext cx="3746599" cy="590401"/>
          </a:xfrm>
          <a:prstGeom prst="roundRect">
            <a:avLst>
              <a:gd name="adj" fmla="val 1290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58713" y="3740348"/>
            <a:ext cx="0" cy="590401"/>
          </a:xfrm>
          <a:prstGeom prst="line">
            <a:avLst/>
          </a:prstGeom>
          <a:noFill/>
          <a:ln w="47625">
            <a:solidFill>
              <a:srgbClr val="F4B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476" y="3867299"/>
            <a:ext cx="3513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9476" y="4060924"/>
            <a:ext cx="3513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Phase 1: Foundation setup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62500" y="1727448"/>
            <a:ext cx="3746599" cy="1815554"/>
          </a:xfrm>
          <a:prstGeom prst="roundRect">
            <a:avLst>
              <a:gd name="adj" fmla="val 6995"/>
            </a:avLst>
          </a:prstGeom>
          <a:solidFill>
            <a:srgbClr val="F4B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84013" y="1981349"/>
            <a:ext cx="33035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A5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Democratize Nigerian Law?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4013" y="2584549"/>
            <a:ext cx="330357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building a platform that will empower millions of Nigerians to understand and exercise their legal rights.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4013" y="3117652"/>
            <a:ext cx="33035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discuss: hello@lawmadesimple.ng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LawMadeSimple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LawMadeSimple - Stakeholder Presentation</dc:title>
  <dc:subject>Democratizing Nigerian Law Through Plain Language</dc:subject>
  <dc:creator>LawMadeSimple</dc:creator>
  <cp:lastModifiedBy>LawMadeSimple</cp:lastModifiedBy>
  <cp:revision>1</cp:revision>
  <dcterms:created xsi:type="dcterms:W3CDTF">2026-01-27T22:39:42Z</dcterms:created>
  <dcterms:modified xsi:type="dcterms:W3CDTF">2026-01-27T22:39:42Z</dcterms:modified>
</cp:coreProperties>
</file>